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Yu Gothic"/>
              </a:rPr>
              <a:t>agent-platform</a:t>
            </a:r>
          </a:p>
          <a:p>
            <a:pPr algn="l">
              <a:lnSpc>
                <a:spcPct val="100000"/>
              </a:lnSpc>
            </a:pPr>
            <a:r>
              <a:rPr sz="2600" b="0">
                <a:solidFill>
                  <a:srgbClr val="B8C4D8"/>
                </a:solidFill>
                <a:latin typeface="Yu Gothic"/>
              </a:rPr>
              <a:t>AI エージェント開発 実践学習リポジトリ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Yu Gothic"/>
              </a:rPr>
              <a:t>動くコードを改造しながら、Bedrock × Strands Agents × AgentCore を一周する全 20 章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8FA0BC"/>
                </a:solidFill>
                <a:latin typeface="Yu Gothic"/>
              </a:rPr>
              <a:t>チーム内 エージェント開発人材育成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背景と目的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なぜ作ったか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2E5E9E"/>
                </a:solidFill>
                <a:latin typeface="Yu Gothic"/>
              </a:rPr>
              <a:t>● 背景</a:t>
            </a:r>
          </a:p>
          <a:p>
            <a:pPr lvl="1">
              <a:lnSpc>
                <a:spcPct val="125000"/>
              </a:lnSpc>
            </a:pPr>
            <a:r>
              <a:rPr sz="1600" b="0">
                <a:solidFill>
                  <a:srgbClr val="1B2A4A"/>
                </a:solidFill>
                <a:latin typeface="Yu Gothic"/>
              </a:rPr>
              <a:t>– エージェント開発案件が増える一方、開発経験者がチーム内に少ない</a:t>
            </a:r>
          </a:p>
          <a:p>
            <a:pPr lvl="1">
              <a:lnSpc>
                <a:spcPct val="125000"/>
              </a:lnSpc>
            </a:pPr>
            <a:r>
              <a:rPr sz="1600" b="0">
                <a:solidFill>
                  <a:srgbClr val="1B2A4A"/>
                </a:solidFill>
                <a:latin typeface="Yu Gothic"/>
              </a:rPr>
              <a:t>– 記事や資格の知識だけでは、案件初日の「モデルが呼べない」「コストが暴走した」を越えられない</a:t>
            </a:r>
          </a:p>
          <a:p>
            <a:pPr>
              <a:lnSpc>
                <a:spcPct val="125000"/>
              </a:lnSpc>
            </a:pPr>
            <a:r>
              <a:rPr sz="1800" b="1">
                <a:solidFill>
                  <a:srgbClr val="2E5E9E"/>
                </a:solidFill>
                <a:latin typeface="Yu Gothic"/>
              </a:rPr>
              <a:t>● ゴール</a:t>
            </a:r>
          </a:p>
          <a:p>
            <a:pPr lvl="1">
              <a:lnSpc>
                <a:spcPct val="125000"/>
              </a:lnSpc>
            </a:pPr>
            <a:r>
              <a:rPr sz="1600" b="0">
                <a:solidFill>
                  <a:srgbClr val="1B2A4A"/>
                </a:solidFill>
                <a:latin typeface="Yu Gothic"/>
              </a:rPr>
              <a:t>– 案件に参画し、活躍できるエージェント開発人材を育成する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5E9E"/>
                </a:solidFill>
                <a:latin typeface="Yu Gothic"/>
              </a:rPr>
              <a:t>参画ライン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教材で到達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ツール実装・ガード・テスト・
デプロイまで自分の手で書けた状態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93192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7A2E"/>
                </a:solidFill>
                <a:latin typeface="Yu Gothic"/>
              </a:rPr>
              <a:t>活躍ライン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教材 + 実測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評価設計・コスト最適化・
セキュリティの判断ができる状態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931920"/>
            <a:ext cx="3566160" cy="2194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55B66"/>
                </a:solidFill>
                <a:latin typeface="Yu Gothic"/>
              </a:rPr>
              <a:t>OJT 領域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案件で仕上げ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顧客への非決定性の説明・
本番運用（教材の対象外と明示）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教材の特徴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既存の記事・書籍との違い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417320"/>
            <a:ext cx="43891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Yu Gothic"/>
              </a:rPr>
              <a:t>動くコードを改造する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完成品の競合リサーチエージェントが本体。
読むだけの章はゼロ。全章で自分の手でコードを書く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417320"/>
            <a:ext cx="43891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Yu Gothic"/>
              </a:rPr>
              <a:t>合格判定は機械が下す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各章に verify（pytest / スクリプト）。
「読んだ気になる」を仕組みで排除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023360"/>
            <a:ext cx="43891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Yu Gothic"/>
              </a:rPr>
              <a:t>AWS なしで完走できる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全章の合格判定はオフラインで通る設計。
実機確認はチェックリストで後からまとめて回収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406908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023360"/>
            <a:ext cx="4389120" cy="2011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Yu Gothic"/>
              </a:rPr>
              <a:t>実話で書かれている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troubleshooting は開発中に実際に踏んだ問題だけ。
仕様値は AWS 公式・実機で裏取り済み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進め方 — 全章共通の 4 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Diátaxis + 写経方式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</a:rPr>
              <a:t>1. 読む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DE6F2"/>
                </a:solidFill>
                <a:latin typeface="Yu Gothic"/>
              </a:rPr>
              <a:t>README の解説で
仕組みと理由を理解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210312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80" y="1371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</a:rPr>
              <a:t>2. 書く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DE6F2"/>
                </a:solidFill>
                <a:latin typeface="Yu Gothic"/>
              </a:rPr>
              <a:t>ハンズオンで
自分の手で実装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210312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371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</a:rPr>
              <a:t>3. 動かす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DE6F2"/>
                </a:solidFill>
                <a:latin typeface="Yu Gothic"/>
              </a:rPr>
              <a:t>実行して
期待結果と照合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98280" y="210312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55480" y="137160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Yu Gothic"/>
              </a:rPr>
              <a:t>4. 判定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DE6F2"/>
                </a:solidFill>
                <a:latin typeface="Yu Gothic"/>
              </a:rPr>
              <a:t>verify が
機械的に合否を下す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87A2E"/>
                </a:solidFill>
                <a:latin typeface="Yu Gothic"/>
              </a:rPr>
              <a:t>判定が通った状態 = その章を「説明できて、書けて、動かせた」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Yu Gothic"/>
              </a:rPr>
              <a:t>写経方式（序盤）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README がコードを段階提示 → 自分の手で写して 1 本ずつ実行
章が独立した uv プロジェクト。書籍『AgentCore実践入門』リポジトリと同じ型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5394960" cy="1920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7A2E"/>
                </a:solidFill>
                <a:latin typeface="Yu Gothic"/>
              </a:rPr>
              <a:t>要件実装方式（中盤以降）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要件と判定テストだけを提示 → 自力で設計・実装
完成コードは solutions/ にのみ配置。詰まったら見てよい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全 20 章の構成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番号順 = 学習の順路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基礎編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E8ECF2"/>
                </a:solidFill>
                <a:latin typeface="Yu Gothic"/>
              </a:rPr>
              <a:t>エージェント開発のコア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00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開発環境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21331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01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Bedrock 呼び出し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022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02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エージェントループ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4713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03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ツール設計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04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04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コスト制御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68095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05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マルチエージェント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54786" y="1051560"/>
            <a:ext cx="1213539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5E9E"/>
                </a:solidFill>
                <a:latin typeface="Yu Gothic"/>
              </a:rPr>
              <a:t>06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テスト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基盤編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E8ECF2"/>
                </a:solidFill>
                <a:latin typeface="Yu Gothic"/>
              </a:rPr>
              <a:t>AWS で動かす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423160"/>
            <a:ext cx="1728216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07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完成形の通読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423160"/>
            <a:ext cx="1728216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08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AgentCore デプロイ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2423160"/>
            <a:ext cx="1728216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09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IaC (CDK)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423160"/>
            <a:ext cx="1728216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10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認証 (Cognito/JWT)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40112" y="2423160"/>
            <a:ext cx="1728216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E8B57"/>
                </a:solidFill>
                <a:latin typeface="Yu Gothic"/>
              </a:rPr>
              <a:t>11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フロント/ストリーミング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品質編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E8ECF2"/>
                </a:solidFill>
                <a:latin typeface="Yu Gothic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94760"/>
            <a:ext cx="4430268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7A2E"/>
                </a:solidFill>
                <a:latin typeface="Yu Gothic"/>
              </a:rPr>
              <a:t>12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評価 (evals)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8060" y="3794760"/>
            <a:ext cx="4430268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7A2E"/>
                </a:solidFill>
                <a:latin typeface="Yu Gothic"/>
              </a:rPr>
              <a:t>13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インジェクション耐性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66360"/>
            <a:ext cx="2194560" cy="1143000"/>
          </a:xfrm>
          <a:prstGeom prst="roundRect">
            <a:avLst>
              <a:gd name="adj" fmla="val 12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応用編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E8ECF2"/>
                </a:solidFill>
                <a:latin typeface="Yu Gothic"/>
              </a:rPr>
              <a:t>Tier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14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MCP サーバ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779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15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プロンプトキャッシュ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6918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16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8057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17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HITL 承認ゲート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39196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18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構造化出力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40335" y="5166360"/>
            <a:ext cx="1427987" cy="1143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99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B2A4A"/>
                </a:solidFill>
                <a:latin typeface="Yu Gothic"/>
              </a:rPr>
              <a:t>付録: RAG/Memory 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題材システム — 競合リサーチエージェント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教材でありながら本物の構成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ブラウザ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40280" y="178308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40" y="14630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Next.js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4F8"/>
                </a:solidFill>
                <a:latin typeface="Yu Gothic"/>
              </a:rPr>
              <a:t>JWT検証 / SSE中継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80" y="178308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AgentCore Runtime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4F8"/>
                </a:solidFill>
                <a:latin typeface="Yu Gothic"/>
              </a:rPr>
              <a:t>ARM64 / microVM分離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09560" y="178308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4630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Bedrock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2F4F8"/>
                </a:solidFill>
                <a:latin typeface="Yu Gothic"/>
              </a:rPr>
              <a:t>Claude (推論PF)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86868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2700">
            <a:solidFill>
              <a:srgbClr val="2E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2A4A"/>
                </a:solidFill>
                <a:latin typeface="Yu Gothic"/>
              </a:rPr>
              <a:t>Cognito (認証)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97383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55B66"/>
                </a:solidFill>
                <a:latin typeface="Yu Gothic"/>
              </a:rPr>
              <a:t>コンテナ内部（Strands Agents）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Orchestrator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Sonnet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分解と統合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37560" y="393192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3320" y="33832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SearchAgent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Haiku（軽量）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web_search ツール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17920" y="393192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338328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ReviewAgent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Sonnet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2F4F8"/>
                </a:solidFill>
                <a:latin typeface="Yu Gothic"/>
              </a:rPr>
              <a:t>コードが必ず実行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1463040"/>
            <a:ext cx="1600200" cy="35661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全体に効く仕組み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4F8"/>
                </a:solidFill>
                <a:latin typeface="Yu Gothic"/>
              </a:rPr>
              <a:t>ガード
(回数/ターン上限)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4F8"/>
                </a:solidFill>
                <a:latin typeface="Yu Gothic"/>
              </a:rPr>
              <a:t>トークン計測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4F8"/>
                </a:solidFill>
                <a:latin typeface="Yu Gothic"/>
              </a:rPr>
              <a:t>Guardrails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4F8"/>
                </a:solidFill>
                <a:latin typeface="Yu Gothic"/>
              </a:rPr>
              <a:t>CDK (IaC)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設計判断も教材の一部: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検索は「ツール」としてモデルの裁量に、検証は「コード」で決定的に実行 — 裁量と固定の境界を理由付きで示す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役割ごとにモデルを使い分け（Sonnet / Haiku）、理由をコメントで残す = コスト最適化の実体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技術スタック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案件でそのまま使う構成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エージェント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143000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Strands Agents (Python 3.12 / uv)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143000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AWS 製 OSS。ReAct ループ・hooks・MCP 対応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モデル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01952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Amazon Bedrock (Claude)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901952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クロスリージョン推論プロファイル。IAM で統制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60904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実行基盤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660904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Bedrock AgentCore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660904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エージェント専用サーバレス。ARM64 / セッション毎 microVM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9856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IaC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419856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AWS CDK (TypeScript)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419856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L2 が無い新サービスを L1 で書く実務パターン込み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78808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認証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4178808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Amazon Cognito + JWT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4178808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Runtime の authorizer と Route Handler の二重検証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フロント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4937760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Next.js (App Router)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937760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JWT 検証・ストリーミング表示・AWS 認証情報の秘匿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96712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"/>
              </a:rPr>
              <a:t>評価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696712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自作 evals ハーネス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696712"/>
            <a:ext cx="49377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ルール判定 + コスト集計。改善ループの土台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何が書けるようになるか ① 基礎編 (00〜06)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AWS なしで完走可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01-02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97280"/>
            <a:ext cx="10241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モデル ID 解決の実装 / 最小エージェント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55B66"/>
                </a:solidFill>
                <a:latin typeface="Yu Gothic"/>
              </a:rPr>
              <a:t>推論プロファイルの解決規則を自分で実装。ReAct ループを自作エージェントのログで説明できる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1992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176272"/>
            <a:ext cx="10241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ツール設計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55B66"/>
                </a:solidFill>
                <a:latin typeface="Yu Gothic"/>
              </a:rPr>
              <a:t>docstring = LLM への仕様書（受け取る/返す/含まない）。エラーは retryable + 次の行動付きで返す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00984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255264"/>
            <a:ext cx="10241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コストと暴走の制御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55B66"/>
                </a:solidFill>
                <a:latin typeface="Yu Gothic"/>
              </a:rPr>
              <a:t>hooks で回数・ターン・トークン量の上限を自作。「プロンプトのお願いは制御ではない」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79976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334256"/>
            <a:ext cx="10241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マルチエージェント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55B66"/>
                </a:solidFill>
                <a:latin typeface="Yu Gothic"/>
              </a:rPr>
              <a:t>裁量とコードの境界を判断。専門エージェントを追加し、モデル使い分けの理由を書ける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58968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413248"/>
            <a:ext cx="10241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2A4A"/>
                </a:solidFill>
                <a:latin typeface="Yu Gothic"/>
              </a:rPr>
              <a:t>テスト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55B66"/>
                </a:solidFill>
                <a:latin typeface="Yu Gothic"/>
              </a:rPr>
              <a:t>LLM を呼ばずに固定できる範囲を見極め、CI に載る異常系テストを書ける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何が書けるようになるか ② 基盤〜応用 (07〜18)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基盤編 07-11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AgentCore のコンテナ契約を自分の Dockerfile で満たす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CDK: IAM 信頼ポリシー（confused deputy 対策）、ECR→Runtime のデプロイ順序問題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Cognito + JWT authorizer の二重検証を配線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JWT 検証つき Route Handler とストリーミング表示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4300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品質編 12-13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「良い報告」を検証可能な条件に翻訳し eval ケース化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プロンプト修正 → 退行なし確認の改善ループ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検索結果への間接インジェクションに耐えるプロンプト + 耐性 eval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多層防御（プロンプト/ツール/権限/上限/検証）の分担を説明できる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143000"/>
            <a:ext cx="3703320" cy="548640"/>
          </a:xfrm>
          <a:prstGeom prst="roundRect">
            <a:avLst>
              <a:gd name="adj" fmla="val 12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応用編 14-18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28800"/>
            <a:ext cx="3703320" cy="4480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ツールを MCP サーバに分離（プロトコル越しに実行）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プロンプトキャッシュの前方一致と効かない構造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Guardrails（PROMPT_ATTACK 含む）を CDK で定義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1B2A4A"/>
                </a:solidFill>
                <a:latin typeface="Yu Gothic"/>
              </a:rPr>
              <a:t>● 承認ゲート (HITL) / 構造化出力でパーサ撤去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教材そのものの品質保証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「動く教材」をどう担保したか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64592" cy="2331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371600"/>
            <a:ext cx="49377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B57"/>
                </a:solidFill>
                <a:latin typeface="Yu Gothic"/>
              </a:rPr>
              <a:t>verify のラウンドトリップ検証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全 18 章で「未実施 = 手がかり付きで不合格 / 模範解答 = 全パス」を実機確認。
模範解答のバグも検証中に 2 件検出・修正済み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164592" cy="2331720"/>
          </a:xfrm>
          <a:prstGeom prst="rect">
            <a:avLst/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371600"/>
            <a:ext cx="49377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5E9E"/>
                </a:solidFill>
                <a:latin typeface="Yu Gothic"/>
              </a:rPr>
              <a:t>仕様値は裏取り必須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AgentCore の契約・上限、推論プロファイルの課金仕様、SDK の API 名まで
公式ドキュメント・型定義・実機 introspection で確認してから記載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164592" cy="233172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977640"/>
            <a:ext cx="49377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7A2E"/>
                </a:solidFill>
                <a:latin typeface="Yu Gothic"/>
              </a:rPr>
              <a:t>troubleshooting は実録のみ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Docker Desktop のポート占有、127.0.0.1 bind、CDK L2 不存在（記事の誤り）など
開発中に実際に踏んだ 10 件を症状・原因・対処で記録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394960" cy="23317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164592" cy="233172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3977640"/>
            <a:ext cx="49377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55B66"/>
                </a:solidFill>
                <a:latin typeface="Yu Gothic"/>
              </a:rPr>
              <a:t>継続的な回帰確認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4A"/>
                </a:solidFill>
                <a:latin typeface="Yu Gothic"/>
              </a:rPr>
              <a:t>本体 38 テスト + ruff + mypy + cdk synth + tsc。
章の追加・変更のたびに全スイープ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現在の状態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何が済んで、何が残っているか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94960" cy="48463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8B57"/>
                </a:solidFill>
                <a:latin typeface="Yu Gothic"/>
              </a:rPr>
              <a:t>✅ 完了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4937760" cy="3931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全 20 章（19 章 + 付録）の教材・演習・機械判定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完成形エージェント本体（テスト 38 件 / lint / 型）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CDK 一式（ECR / Runtime / Cognito / Guardrails）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Next.js フロントエンド（JWT 検証 / SSE 表示）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evals ハーネスとインジェクション耐性ケース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1B2A4A"/>
                </a:solidFill>
                <a:latin typeface="Yu Gothic"/>
              </a:rPr>
              <a:t>● ARM64 コンテナのビルドと契約検証（ローカル）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394960" cy="48463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7A2E"/>
                </a:solidFill>
                <a:latin typeface="Yu Gothic"/>
              </a:rPr>
              <a:t>⏳ 残作業（要 AWS 認証）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965960"/>
            <a:ext cx="493776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● 実モデル呼び出しを伴う動作確認 12 項目</a:t>
            </a:r>
          </a:p>
          <a:p>
            <a:pPr lvl="1">
              <a:lnSpc>
                <a:spcPct val="13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– デプロイ（ECR push → Runtime 作成）</a:t>
            </a:r>
          </a:p>
          <a:p>
            <a:pPr lvl="1">
              <a:lnSpc>
                <a:spcPct val="13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– Cognito トークンでの呼び出し確認</a:t>
            </a:r>
          </a:p>
          <a:p>
            <a:pPr lvl="1">
              <a:lnSpc>
                <a:spcPct val="13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– eval の実行と改善ループの実測</a:t>
            </a:r>
          </a:p>
          <a:p>
            <a:pPr lvl="1">
              <a:lnSpc>
                <a:spcPct val="130000"/>
              </a:lnSpc>
            </a:pPr>
            <a:r>
              <a:rPr sz="1300" b="0">
                <a:solidFill>
                  <a:srgbClr val="1B2A4A"/>
                </a:solidFill>
                <a:latin typeface="Yu Gothic"/>
              </a:rPr>
              <a:t>– インジェクション耐性の実測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50292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Yu Gothic"/>
              </a:rPr>
              <a:t>docs/aws-checklist.md に集約済み。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B66"/>
                </a:solidFill>
                <a:latin typeface="Yu Gothic"/>
              </a:rPr>
              <a:t>認証復旧後、上から順に消化するだけ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Yu Gothic"/>
              </a:rPr>
              <a:t>育成プランへの組み込み方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65760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8C4D8"/>
                </a:solidFill>
                <a:latin typeface="Yu Gothic"/>
              </a:rPr>
              <a:t>教材 → 実測 →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40233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2E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STEP 1  基礎〜基盤編を完走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200400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第0〜11章
目安 2〜3 日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E5E9E"/>
                </a:solidFill>
                <a:latin typeface="Yu Gothic"/>
              </a:rPr>
              <a:t>↓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参画ライン到達
（実装・デプロイが手で書ける）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24528" y="320040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566160" cy="40233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STEP 2  品質・応用編 + 実測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377440"/>
            <a:ext cx="3200400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第12〜18章 + AWS 実機確認
目安 +2 日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E8B57"/>
                </a:solidFill>
                <a:latin typeface="Yu Gothic"/>
              </a:rPr>
              <a:t>↓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活躍ラインの技術面
（評価・コスト・セキュリティ）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0728" y="3200400"/>
            <a:ext cx="320040" cy="27432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371600"/>
            <a:ext cx="3566160" cy="40233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37160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"/>
              </a:rPr>
              <a:t>STEP 3  案件 OJT + 資格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377440"/>
            <a:ext cx="3200400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A4A"/>
                </a:solidFill>
                <a:latin typeface="Yu Gothic"/>
              </a:rPr>
              <a:t>実案件への同席・振り返り
AIP-C01 受験推奨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87A2E"/>
                </a:solidFill>
                <a:latin typeface="Yu Gothic"/>
              </a:rPr>
              <a:t>↓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55B66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B66"/>
                </a:solidFill>
                <a:latin typeface="Yu Gothic"/>
              </a:rPr>
              <a:t>顧客説明・本番運用は
教材外と割り切り OJT 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235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Yu Gothic"/>
              </a:rPr>
              <a:t>進捗は verify の合否で機械的に測れる — 「読んだ」ではなく「できた」で管理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10515600" cy="3840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50000"/>
              </a:lnSpc>
            </a:pPr>
            <a:r>
              <a:rPr sz="1900" b="1">
                <a:solidFill>
                  <a:srgbClr val="FFFFFF"/>
                </a:solidFill>
                <a:latin typeface="Yu Gothic"/>
              </a:rPr>
              <a:t>● エージェント開発を「読む」ではなく「書いて動かして判定される」形で習得する全 20 章</a:t>
            </a:r>
          </a:p>
          <a:p>
            <a:pPr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  <a:latin typeface="Yu Gothic"/>
              </a:rPr>
              <a:t>● 題材は案件と同じ構成（Bedrock / AgentCore / CDK / Cognito / Next.js）— 教材と実務の段差が小さい</a:t>
            </a:r>
          </a:p>
          <a:p>
            <a:pPr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  <a:latin typeface="Yu Gothic"/>
              </a:rPr>
              <a:t>● コスト制御・評価・セキュリティという「案件で事故る所」を仕組みごと教える</a:t>
            </a:r>
          </a:p>
          <a:p>
            <a:pPr>
              <a:lnSpc>
                <a:spcPct val="150000"/>
              </a:lnSpc>
            </a:pPr>
            <a:r>
              <a:rPr sz="1700" b="0">
                <a:solidFill>
                  <a:srgbClr val="FFFFFF"/>
                </a:solidFill>
                <a:latin typeface="Yu Gothic"/>
              </a:rPr>
              <a:t>● AWS 認証なしで完走可能。実機確認はチェックリストで回収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FFC98E"/>
                </a:solidFill>
                <a:latin typeface="Yu Gothic"/>
              </a:rPr>
              <a:t>● 次の一歩: パイロット受講者 1〜2 名で第0〜6章を走らせ、所要時間と詰まり所を実測する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0BC"/>
                </a:solidFill>
                <a:latin typeface="Yu Gothic"/>
              </a:rPr>
              <a:t>リポジトリ: agent-platform（fork して 00-dev-environment/ から）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